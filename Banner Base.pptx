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3600" cy="431927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Montserrat" panose="020B0604020202020204" charset="0"/>
      <p:regular r:id="rId8"/>
      <p:bold r:id="rId9"/>
      <p:italic r:id="rId10"/>
      <p:boldItalic r:id="rId11"/>
    </p:embeddedFont>
    <p:embeddedFont>
      <p:font typeface="Open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guoufuHeP4sV3rQur5BszHNDe6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" d="100"/>
          <a:sy n="13" d="100"/>
        </p:scale>
        <p:origin x="2448" y="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5400000">
            <a:off x="1143639" y="22499866"/>
            <a:ext cx="37944963" cy="17374959"/>
          </a:xfrm>
          <a:custGeom>
            <a:avLst/>
            <a:gdLst/>
            <a:ahLst/>
            <a:cxnLst/>
            <a:rect l="l" t="t" r="r" b="b"/>
            <a:pathLst>
              <a:path w="37944963" h="17374959" extrusionOk="0">
                <a:moveTo>
                  <a:pt x="0" y="0"/>
                </a:moveTo>
                <a:lnTo>
                  <a:pt x="37944963" y="0"/>
                </a:lnTo>
                <a:lnTo>
                  <a:pt x="37944963" y="17374959"/>
                </a:lnTo>
                <a:lnTo>
                  <a:pt x="0" y="17374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8378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20333251" y="40653150"/>
            <a:ext cx="4806554" cy="1219663"/>
          </a:xfrm>
          <a:custGeom>
            <a:avLst/>
            <a:gdLst/>
            <a:ahLst/>
            <a:cxnLst/>
            <a:rect l="l" t="t" r="r" b="b"/>
            <a:pathLst>
              <a:path w="4806554" h="1219663" extrusionOk="0">
                <a:moveTo>
                  <a:pt x="0" y="0"/>
                </a:moveTo>
                <a:lnTo>
                  <a:pt x="4806554" y="0"/>
                </a:lnTo>
                <a:lnTo>
                  <a:pt x="4806554" y="1219664"/>
                </a:lnTo>
                <a:lnTo>
                  <a:pt x="0" y="12196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25659832" y="40013768"/>
            <a:ext cx="2331941" cy="2210428"/>
          </a:xfrm>
          <a:custGeom>
            <a:avLst/>
            <a:gdLst/>
            <a:ahLst/>
            <a:cxnLst/>
            <a:rect l="l" t="t" r="r" b="b"/>
            <a:pathLst>
              <a:path w="2331941" h="2210428" extrusionOk="0">
                <a:moveTo>
                  <a:pt x="0" y="0"/>
                </a:moveTo>
                <a:lnTo>
                  <a:pt x="2331941" y="0"/>
                </a:lnTo>
                <a:lnTo>
                  <a:pt x="2331941" y="2210428"/>
                </a:lnTo>
                <a:lnTo>
                  <a:pt x="0" y="22104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33317" r="-54141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5521550" y="1517443"/>
            <a:ext cx="8035511" cy="2234772"/>
          </a:xfrm>
          <a:custGeom>
            <a:avLst/>
            <a:gdLst/>
            <a:ahLst/>
            <a:cxnLst/>
            <a:rect l="l" t="t" r="r" b="b"/>
            <a:pathLst>
              <a:path w="8035511" h="2234772" extrusionOk="0">
                <a:moveTo>
                  <a:pt x="0" y="0"/>
                </a:moveTo>
                <a:lnTo>
                  <a:pt x="8035511" y="0"/>
                </a:lnTo>
                <a:lnTo>
                  <a:pt x="8035511" y="2234773"/>
                </a:lnTo>
                <a:lnTo>
                  <a:pt x="0" y="22347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834" b="-20267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 rot="-1047993">
            <a:off x="1891354" y="1260574"/>
            <a:ext cx="910048" cy="4294742"/>
          </a:xfrm>
          <a:custGeom>
            <a:avLst/>
            <a:gdLst/>
            <a:ahLst/>
            <a:cxnLst/>
            <a:rect l="l" t="t" r="r" b="b"/>
            <a:pathLst>
              <a:path w="910048" h="4294742" extrusionOk="0">
                <a:moveTo>
                  <a:pt x="0" y="0"/>
                </a:moveTo>
                <a:lnTo>
                  <a:pt x="910048" y="0"/>
                </a:lnTo>
                <a:lnTo>
                  <a:pt x="910048" y="4294743"/>
                </a:lnTo>
                <a:lnTo>
                  <a:pt x="0" y="42947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4891" t="-51180" r="-1717696" b="-30387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 rot="419970">
            <a:off x="2346378" y="1300020"/>
            <a:ext cx="910048" cy="4294742"/>
          </a:xfrm>
          <a:custGeom>
            <a:avLst/>
            <a:gdLst/>
            <a:ahLst/>
            <a:cxnLst/>
            <a:rect l="l" t="t" r="r" b="b"/>
            <a:pathLst>
              <a:path w="910048" h="4294742" extrusionOk="0">
                <a:moveTo>
                  <a:pt x="0" y="0"/>
                </a:moveTo>
                <a:lnTo>
                  <a:pt x="910048" y="0"/>
                </a:lnTo>
                <a:lnTo>
                  <a:pt x="910048" y="4294742"/>
                </a:lnTo>
                <a:lnTo>
                  <a:pt x="0" y="4294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4891" t="-51180" r="-1717696" b="-30387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3514715" y="1339466"/>
            <a:ext cx="910048" cy="4294742"/>
          </a:xfrm>
          <a:custGeom>
            <a:avLst/>
            <a:gdLst/>
            <a:ahLst/>
            <a:cxnLst/>
            <a:rect l="l" t="t" r="r" b="b"/>
            <a:pathLst>
              <a:path w="910048" h="4294742" extrusionOk="0">
                <a:moveTo>
                  <a:pt x="0" y="0"/>
                </a:moveTo>
                <a:lnTo>
                  <a:pt x="910048" y="0"/>
                </a:lnTo>
                <a:lnTo>
                  <a:pt x="910048" y="4294742"/>
                </a:lnTo>
                <a:lnTo>
                  <a:pt x="0" y="4294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4891" t="-51180" r="-1717696" b="-30387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4518133" y="1300020"/>
            <a:ext cx="910048" cy="4294742"/>
          </a:xfrm>
          <a:custGeom>
            <a:avLst/>
            <a:gdLst/>
            <a:ahLst/>
            <a:cxnLst/>
            <a:rect l="l" t="t" r="r" b="b"/>
            <a:pathLst>
              <a:path w="910048" h="4294742" extrusionOk="0">
                <a:moveTo>
                  <a:pt x="0" y="0"/>
                </a:moveTo>
                <a:lnTo>
                  <a:pt x="910047" y="0"/>
                </a:lnTo>
                <a:lnTo>
                  <a:pt x="910047" y="4294742"/>
                </a:lnTo>
                <a:lnTo>
                  <a:pt x="0" y="4294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4891" t="-51180" r="-1717696" b="-30387"/>
            </a:stretch>
          </a:blipFill>
          <a:ln>
            <a:noFill/>
          </a:ln>
        </p:spPr>
      </p:sp>
      <p:sp>
        <p:nvSpPr>
          <p:cNvPr id="92" name="Google Shape;92;p1"/>
          <p:cNvSpPr txBox="1"/>
          <p:nvPr/>
        </p:nvSpPr>
        <p:spPr>
          <a:xfrm>
            <a:off x="4773325" y="3324912"/>
            <a:ext cx="8246400" cy="3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6"/>
              <a:buFont typeface="Arial"/>
              <a:buNone/>
            </a:pPr>
            <a:r>
              <a:rPr lang="en-US" sz="8416" b="0" i="0" u="none" strike="noStrike" cap="none">
                <a:solidFill>
                  <a:srgbClr val="6DB3CF"/>
                </a:solidFill>
                <a:latin typeface="Arial"/>
                <a:ea typeface="Arial"/>
                <a:cs typeface="Arial"/>
                <a:sym typeface="Arial"/>
              </a:rPr>
              <a:t>ESTÁCIO</a:t>
            </a:r>
            <a:endParaRPr sz="8416" b="0" i="0" u="none" strike="noStrike" cap="none">
              <a:solidFill>
                <a:srgbClr val="6DB3C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6"/>
              <a:buFont typeface="Arial"/>
              <a:buNone/>
            </a:pPr>
            <a:r>
              <a:rPr lang="en-US" sz="8416" b="0" i="0" u="none" strike="noStrike" cap="none">
                <a:solidFill>
                  <a:srgbClr val="6DB3CF"/>
                </a:solidFill>
                <a:latin typeface="Arial"/>
                <a:ea typeface="Arial"/>
                <a:cs typeface="Arial"/>
                <a:sym typeface="Arial"/>
              </a:rPr>
              <a:t>RECIFE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5794836" y="7476685"/>
            <a:ext cx="16941600" cy="369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18"/>
              <a:buFont typeface="Arial"/>
              <a:buNone/>
            </a:pPr>
            <a:r>
              <a:rPr lang="en-US" sz="5718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PROFESSORA: </a:t>
            </a:r>
            <a:r>
              <a:rPr lang="en-US" sz="5718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MARIA RENAY BARBOSA DA SILVA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18"/>
              <a:buFont typeface="Arial"/>
              <a:buNone/>
            </a:pPr>
            <a:r>
              <a:rPr lang="en-US" sz="5718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DISCIPLINA :</a:t>
            </a:r>
            <a:r>
              <a:rPr lang="en-US" sz="5718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TÓPICOS DE BIG DATA EM PYTHON</a:t>
            </a:r>
            <a:endParaRPr sz="5718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18"/>
              <a:buFont typeface="Arial"/>
              <a:buNone/>
            </a:pPr>
            <a:r>
              <a:rPr lang="en-US" sz="5718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TEMA:</a:t>
            </a:r>
            <a:r>
              <a:rPr lang="en-US" sz="5718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VENDAS DE JOGOS</a:t>
            </a:r>
            <a:endParaRPr sz="5718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346364" y="13858139"/>
            <a:ext cx="7201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18"/>
              <a:buFont typeface="Arial"/>
              <a:buNone/>
            </a:pPr>
            <a:r>
              <a:rPr lang="en-US" sz="6918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346478" y="20760785"/>
            <a:ext cx="7201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18"/>
              <a:buFont typeface="Arial"/>
              <a:buNone/>
            </a:pPr>
            <a:r>
              <a:rPr lang="en-US" sz="6918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956200" y="28743894"/>
            <a:ext cx="7201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18"/>
              <a:buFont typeface="Arial"/>
              <a:buNone/>
            </a:pPr>
            <a:r>
              <a:rPr lang="en-US" sz="6918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4265682" y="13811658"/>
            <a:ext cx="7201200" cy="25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18"/>
              <a:buFont typeface="Arial"/>
              <a:buNone/>
            </a:pPr>
            <a:r>
              <a:rPr lang="en-US" sz="6918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EXTENSÃO REALIZADA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4978549" y="23308499"/>
            <a:ext cx="7201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18"/>
              <a:buFont typeface="Arial"/>
              <a:buNone/>
            </a:pPr>
            <a:r>
              <a:rPr lang="en-US" sz="6918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METODOLOGIA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7872962" y="-10390392"/>
            <a:ext cx="27058190" cy="27016626"/>
          </a:xfrm>
          <a:custGeom>
            <a:avLst/>
            <a:gdLst/>
            <a:ahLst/>
            <a:cxnLst/>
            <a:rect l="l" t="t" r="r" b="b"/>
            <a:pathLst>
              <a:path w="27058190" h="27016626" extrusionOk="0">
                <a:moveTo>
                  <a:pt x="0" y="0"/>
                </a:moveTo>
                <a:lnTo>
                  <a:pt x="27058191" y="0"/>
                </a:lnTo>
                <a:lnTo>
                  <a:pt x="27058191" y="27016626"/>
                </a:lnTo>
                <a:lnTo>
                  <a:pt x="0" y="27016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16000"/>
            </a:blip>
            <a:stretch>
              <a:fillRect/>
            </a:stretch>
          </a:blipFill>
          <a:ln>
            <a:noFill/>
          </a:ln>
        </p:spPr>
      </p:sp>
      <p:sp>
        <p:nvSpPr>
          <p:cNvPr id="100" name="Google Shape;100;p1"/>
          <p:cNvSpPr txBox="1"/>
          <p:nvPr/>
        </p:nvSpPr>
        <p:spPr>
          <a:xfrm>
            <a:off x="1322717" y="15574308"/>
            <a:ext cx="92487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100" i="0" u="none" strike="noStrike" cap="none">
                <a:solidFill>
                  <a:schemeClr val="dk1"/>
                </a:solidFill>
              </a:rPr>
              <a:t>Realizamos um projeto de pesquisa e análise de um banco de dados </a:t>
            </a:r>
            <a:r>
              <a:rPr lang="en-US" sz="4100">
                <a:solidFill>
                  <a:schemeClr val="dk1"/>
                </a:solidFill>
              </a:rPr>
              <a:t>para explorar um conjunto de dados públicos sobre vendas de jogos eletrônicos em diferentes regiões do mundo utilizando Python.</a:t>
            </a:r>
            <a:endParaRPr sz="41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267803" y="22346884"/>
            <a:ext cx="11644800" cy="44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4100">
                <a:solidFill>
                  <a:schemeClr val="dk1"/>
                </a:solidFill>
              </a:rPr>
              <a:t>O principal objetivo é identificar padrões e insights relevantes nas vendas globais de jogos, respondendo perguntas como: quais gêneros vendem mais em cada região, quais gêneros foram mais lucrativos, quais empresas dominam o mercado e quais as maiores vendas globais.</a:t>
            </a:r>
            <a:endParaRPr sz="3999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endParaRPr sz="3999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004702" y="30121113"/>
            <a:ext cx="134334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-US" sz="4100">
                <a:solidFill>
                  <a:schemeClr val="dk1"/>
                </a:solidFill>
              </a:rPr>
              <a:t>Os resultados mostraram padrões interessantes, como a predominância de determinados gêneros em regiões específicas — por exemplo, RPGs no Japão e jogos de ação na América do Norte. O dashboard final oferece uma visão ampla e acessível do comportamento do mercado global de games.</a:t>
            </a:r>
            <a:endParaRPr sz="40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3356875" y="16886950"/>
            <a:ext cx="11782800" cy="44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9"/>
              <a:buFont typeface="Arial"/>
              <a:buNone/>
            </a:pPr>
            <a:r>
              <a:rPr lang="en-US" sz="4100">
                <a:solidFill>
                  <a:schemeClr val="dk1"/>
                </a:solidFill>
              </a:rPr>
              <a:t>A extensão envolveu a coleta, limpeza e análise dos dados, seguida pela criação de um dashboard interativo em Python. Esse painel permite que o usuário explore de forma dinâmica as informações e visualize as principais métricas de vendas, filtradas por gênero, região e ano..</a:t>
            </a:r>
            <a:endParaRPr sz="4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9"/>
              <a:buFont typeface="Arial"/>
              <a:buNone/>
            </a:pPr>
            <a:endParaRPr sz="4129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3703678" y="24966847"/>
            <a:ext cx="144732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100" dirty="0" err="1">
                <a:solidFill>
                  <a:schemeClr val="dk1"/>
                </a:solidFill>
              </a:rPr>
              <a:t>Foram</a:t>
            </a:r>
            <a:r>
              <a:rPr lang="en-US" sz="4100" dirty="0">
                <a:solidFill>
                  <a:schemeClr val="dk1"/>
                </a:solidFill>
              </a:rPr>
              <a:t> </a:t>
            </a:r>
            <a:r>
              <a:rPr lang="en-US" sz="4100" dirty="0" err="1">
                <a:solidFill>
                  <a:schemeClr val="dk1"/>
                </a:solidFill>
              </a:rPr>
              <a:t>utilizadas</a:t>
            </a:r>
            <a:r>
              <a:rPr lang="en-US" sz="4100" dirty="0">
                <a:solidFill>
                  <a:schemeClr val="dk1"/>
                </a:solidFill>
              </a:rPr>
              <a:t> </a:t>
            </a:r>
            <a:r>
              <a:rPr lang="en-US" sz="4100" dirty="0" err="1">
                <a:solidFill>
                  <a:schemeClr val="dk1"/>
                </a:solidFill>
              </a:rPr>
              <a:t>bibliotecas</a:t>
            </a:r>
            <a:r>
              <a:rPr lang="en-US" sz="4100" dirty="0">
                <a:solidFill>
                  <a:schemeClr val="dk1"/>
                </a:solidFill>
              </a:rPr>
              <a:t> </a:t>
            </a:r>
            <a:r>
              <a:rPr lang="en-US" sz="4100" dirty="0" err="1">
                <a:solidFill>
                  <a:schemeClr val="dk1"/>
                </a:solidFill>
              </a:rPr>
              <a:t>como</a:t>
            </a:r>
            <a:r>
              <a:rPr lang="en-US" sz="4100" dirty="0">
                <a:solidFill>
                  <a:schemeClr val="dk1"/>
                </a:solidFill>
              </a:rPr>
              <a:t> Pandas, Matplotlib, e </a:t>
            </a:r>
            <a:r>
              <a:rPr lang="en-US" sz="4100" dirty="0" err="1">
                <a:solidFill>
                  <a:schemeClr val="dk1"/>
                </a:solidFill>
              </a:rPr>
              <a:t>Tkinter</a:t>
            </a:r>
            <a:r>
              <a:rPr lang="en-US" sz="4100" dirty="0">
                <a:solidFill>
                  <a:schemeClr val="dk1"/>
                </a:solidFill>
              </a:rPr>
              <a:t> para o </a:t>
            </a:r>
            <a:r>
              <a:rPr lang="en-US" sz="4100" dirty="0" err="1">
                <a:solidFill>
                  <a:schemeClr val="dk1"/>
                </a:solidFill>
              </a:rPr>
              <a:t>tratamento</a:t>
            </a:r>
            <a:r>
              <a:rPr lang="en-US" sz="4100" dirty="0">
                <a:solidFill>
                  <a:schemeClr val="dk1"/>
                </a:solidFill>
              </a:rPr>
              <a:t> e </a:t>
            </a:r>
            <a:r>
              <a:rPr lang="en-US" sz="4100" dirty="0" err="1">
                <a:solidFill>
                  <a:schemeClr val="dk1"/>
                </a:solidFill>
              </a:rPr>
              <a:t>visualização</a:t>
            </a:r>
            <a:r>
              <a:rPr lang="en-US" sz="4100" dirty="0">
                <a:solidFill>
                  <a:schemeClr val="dk1"/>
                </a:solidFill>
              </a:rPr>
              <a:t> dos dados. O </a:t>
            </a:r>
            <a:r>
              <a:rPr lang="en-US" sz="4100" dirty="0" err="1">
                <a:solidFill>
                  <a:schemeClr val="dk1"/>
                </a:solidFill>
              </a:rPr>
              <a:t>processo</a:t>
            </a:r>
            <a:r>
              <a:rPr lang="en-US" sz="4100" dirty="0">
                <a:solidFill>
                  <a:schemeClr val="dk1"/>
                </a:solidFill>
              </a:rPr>
              <a:t> </a:t>
            </a:r>
            <a:r>
              <a:rPr lang="en-US" sz="4100" dirty="0" err="1">
                <a:solidFill>
                  <a:schemeClr val="dk1"/>
                </a:solidFill>
              </a:rPr>
              <a:t>incluiu</a:t>
            </a:r>
            <a:r>
              <a:rPr lang="en-US" sz="4100" dirty="0">
                <a:solidFill>
                  <a:schemeClr val="dk1"/>
                </a:solidFill>
              </a:rPr>
              <a:t> </a:t>
            </a:r>
            <a:r>
              <a:rPr lang="en-US" sz="4100" dirty="0" err="1">
                <a:solidFill>
                  <a:schemeClr val="dk1"/>
                </a:solidFill>
              </a:rPr>
              <a:t>etapas</a:t>
            </a:r>
            <a:r>
              <a:rPr lang="en-US" sz="4100" dirty="0">
                <a:solidFill>
                  <a:schemeClr val="dk1"/>
                </a:solidFill>
              </a:rPr>
              <a:t> de </a:t>
            </a:r>
            <a:r>
              <a:rPr lang="en-US" sz="4100" dirty="0" err="1">
                <a:solidFill>
                  <a:schemeClr val="dk1"/>
                </a:solidFill>
              </a:rPr>
              <a:t>limpeza</a:t>
            </a:r>
            <a:r>
              <a:rPr lang="en-US" sz="4100" dirty="0">
                <a:solidFill>
                  <a:schemeClr val="dk1"/>
                </a:solidFill>
              </a:rPr>
              <a:t> de dados, </a:t>
            </a:r>
            <a:r>
              <a:rPr lang="en-US" sz="4100" dirty="0" err="1">
                <a:solidFill>
                  <a:schemeClr val="dk1"/>
                </a:solidFill>
              </a:rPr>
              <a:t>análise</a:t>
            </a:r>
            <a:r>
              <a:rPr lang="en-US" sz="4100" dirty="0">
                <a:solidFill>
                  <a:schemeClr val="dk1"/>
                </a:solidFill>
              </a:rPr>
              <a:t> </a:t>
            </a:r>
            <a:r>
              <a:rPr lang="en-US" sz="4100" dirty="0" err="1">
                <a:solidFill>
                  <a:schemeClr val="dk1"/>
                </a:solidFill>
              </a:rPr>
              <a:t>exploratória</a:t>
            </a:r>
            <a:r>
              <a:rPr lang="en-US" sz="4100" dirty="0">
                <a:solidFill>
                  <a:schemeClr val="dk1"/>
                </a:solidFill>
              </a:rPr>
              <a:t> e </a:t>
            </a:r>
            <a:r>
              <a:rPr lang="en-US" sz="4100" dirty="0" err="1">
                <a:solidFill>
                  <a:schemeClr val="dk1"/>
                </a:solidFill>
              </a:rPr>
              <a:t>construção</a:t>
            </a:r>
            <a:r>
              <a:rPr lang="en-US" sz="4100" dirty="0">
                <a:solidFill>
                  <a:schemeClr val="dk1"/>
                </a:solidFill>
              </a:rPr>
              <a:t> do dashboard com o </a:t>
            </a:r>
            <a:r>
              <a:rPr lang="en-US" sz="4100" dirty="0" err="1">
                <a:solidFill>
                  <a:schemeClr val="dk1"/>
                </a:solidFill>
              </a:rPr>
              <a:t>Tkinter</a:t>
            </a:r>
            <a:r>
              <a:rPr lang="en-US" sz="4100" dirty="0">
                <a:solidFill>
                  <a:schemeClr val="dk1"/>
                </a:solidFill>
              </a:rPr>
              <a:t>, com </a:t>
            </a:r>
            <a:r>
              <a:rPr lang="en-US" sz="4100" dirty="0" err="1">
                <a:solidFill>
                  <a:schemeClr val="dk1"/>
                </a:solidFill>
              </a:rPr>
              <a:t>foco</a:t>
            </a:r>
            <a:r>
              <a:rPr lang="en-US" sz="4100" dirty="0">
                <a:solidFill>
                  <a:schemeClr val="dk1"/>
                </a:solidFill>
              </a:rPr>
              <a:t> </a:t>
            </a:r>
            <a:r>
              <a:rPr lang="en-US" sz="4100" dirty="0" err="1">
                <a:solidFill>
                  <a:schemeClr val="dk1"/>
                </a:solidFill>
              </a:rPr>
              <a:t>na</a:t>
            </a:r>
            <a:r>
              <a:rPr lang="en-US" sz="4100" dirty="0">
                <a:solidFill>
                  <a:schemeClr val="dk1"/>
                </a:solidFill>
              </a:rPr>
              <a:t> </a:t>
            </a:r>
            <a:r>
              <a:rPr lang="en-US" sz="4100" dirty="0" err="1">
                <a:solidFill>
                  <a:schemeClr val="dk1"/>
                </a:solidFill>
              </a:rPr>
              <a:t>clareza</a:t>
            </a:r>
            <a:r>
              <a:rPr lang="en-US" sz="4100" dirty="0">
                <a:solidFill>
                  <a:schemeClr val="dk1"/>
                </a:solidFill>
              </a:rPr>
              <a:t> e </a:t>
            </a:r>
            <a:r>
              <a:rPr lang="en-US" sz="4100" dirty="0" err="1">
                <a:solidFill>
                  <a:schemeClr val="dk1"/>
                </a:solidFill>
              </a:rPr>
              <a:t>na</a:t>
            </a:r>
            <a:r>
              <a:rPr lang="en-US" sz="4100" dirty="0">
                <a:solidFill>
                  <a:schemeClr val="dk1"/>
                </a:solidFill>
              </a:rPr>
              <a:t> </a:t>
            </a:r>
            <a:r>
              <a:rPr lang="en-US" sz="4100" dirty="0" err="1">
                <a:solidFill>
                  <a:schemeClr val="dk1"/>
                </a:solidFill>
              </a:rPr>
              <a:t>interatividade</a:t>
            </a:r>
            <a:r>
              <a:rPr lang="en-US" sz="4100" dirty="0">
                <a:solidFill>
                  <a:schemeClr val="dk1"/>
                </a:solidFill>
              </a:rPr>
              <a:t> dos </a:t>
            </a:r>
            <a:r>
              <a:rPr lang="en-US" sz="4100" dirty="0" err="1">
                <a:solidFill>
                  <a:schemeClr val="dk1"/>
                </a:solidFill>
              </a:rPr>
              <a:t>gráficos</a:t>
            </a:r>
            <a:r>
              <a:rPr lang="en-US" sz="4100" dirty="0">
                <a:solidFill>
                  <a:schemeClr val="dk1"/>
                </a:solidFill>
              </a:rPr>
              <a:t> </a:t>
            </a:r>
            <a:r>
              <a:rPr lang="en-US" sz="4100" dirty="0" err="1">
                <a:solidFill>
                  <a:schemeClr val="dk1"/>
                </a:solidFill>
              </a:rPr>
              <a:t>apresentados</a:t>
            </a:r>
            <a:r>
              <a:rPr lang="en-US" sz="4100" dirty="0">
                <a:solidFill>
                  <a:schemeClr val="dk1"/>
                </a:solidFill>
              </a:rPr>
              <a:t>.</a:t>
            </a:r>
            <a:endParaRPr sz="4100" i="0" u="none" strike="noStrike" cap="none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Microsoft Office PowerPoint</Application>
  <PresentationFormat>Personalizar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Montserrat</vt:lpstr>
      <vt:lpstr>Open Sans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Aluno</cp:lastModifiedBy>
  <cp:revision>1</cp:revision>
  <dcterms:created xsi:type="dcterms:W3CDTF">2006-08-16T00:00:00Z</dcterms:created>
  <dcterms:modified xsi:type="dcterms:W3CDTF">2025-11-19T12:10:40Z</dcterms:modified>
</cp:coreProperties>
</file>