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1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</p:sldIdLst>
  <p:sldSz cy="43192700" cx="28803600"/>
  <p:notesSz cx="6858000" cy="9144000"/>
  <p:embeddedFontLst>
    <p:embeddedFont>
      <p:font typeface="Montserrat"/>
      <p:regular r:id="rId7"/>
      <p:bold r:id="rId8"/>
      <p:italic r:id="rId9"/>
      <p:boldItalic r:id="rId10"/>
    </p:embeddedFont>
    <p:embeddedFont>
      <p:font typeface="Open Sans"/>
      <p:regular r:id="rId11"/>
      <p:bold r:id="rId12"/>
      <p:italic r:id="rId13"/>
      <p:boldItalic r:id="rId1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15" roundtripDataSignature="AMtx7mguoufuHeP4sV3rQur5BszHNDe6T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font" Target="fonts/OpenSans-regular.fntdata"/><Relationship Id="rId10" Type="http://schemas.openxmlformats.org/officeDocument/2006/relationships/font" Target="fonts/Montserrat-boldItalic.fntdata"/><Relationship Id="rId13" Type="http://schemas.openxmlformats.org/officeDocument/2006/relationships/font" Target="fonts/OpenSans-italic.fntdata"/><Relationship Id="rId12" Type="http://schemas.openxmlformats.org/officeDocument/2006/relationships/font" Target="fonts/OpenSans-bold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font" Target="fonts/Montserrat-italic.fntdata"/><Relationship Id="rId15" Type="http://customschemas.google.com/relationships/presentationmetadata" Target="metadata"/><Relationship Id="rId14" Type="http://schemas.openxmlformats.org/officeDocument/2006/relationships/font" Target="fonts/OpenSans-bold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font" Target="fonts/Montserrat-regular.fntdata"/><Relationship Id="rId8" Type="http://schemas.openxmlformats.org/officeDocument/2006/relationships/font" Target="fonts/Montserrat-bold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2286000" y="685800"/>
            <a:ext cx="228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4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5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6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7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8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8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8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8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0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10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1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1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1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2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3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3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2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2.png"/><Relationship Id="rId6" Type="http://schemas.openxmlformats.org/officeDocument/2006/relationships/image" Target="../media/image1.png"/><Relationship Id="rId7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CFDFD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/>
          <p:nvPr/>
        </p:nvSpPr>
        <p:spPr>
          <a:xfrm rot="5400000">
            <a:off x="1143639" y="22499866"/>
            <a:ext cx="37944963" cy="17374959"/>
          </a:xfrm>
          <a:custGeom>
            <a:rect b="b" l="l" r="r" t="t"/>
            <a:pathLst>
              <a:path extrusionOk="0" h="17374959" w="37944963">
                <a:moveTo>
                  <a:pt x="0" y="0"/>
                </a:moveTo>
                <a:lnTo>
                  <a:pt x="37944963" y="0"/>
                </a:lnTo>
                <a:lnTo>
                  <a:pt x="37944963" y="17374959"/>
                </a:lnTo>
                <a:lnTo>
                  <a:pt x="0" y="1737495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118378" l="0" r="0" t="0"/>
            </a:stretch>
          </a:blipFill>
          <a:ln>
            <a:noFill/>
          </a:ln>
        </p:spPr>
      </p:sp>
      <p:sp>
        <p:nvSpPr>
          <p:cNvPr id="85" name="Google Shape;85;p1"/>
          <p:cNvSpPr/>
          <p:nvPr/>
        </p:nvSpPr>
        <p:spPr>
          <a:xfrm>
            <a:off x="20333251" y="40653150"/>
            <a:ext cx="4806554" cy="1219663"/>
          </a:xfrm>
          <a:custGeom>
            <a:rect b="b" l="l" r="r" t="t"/>
            <a:pathLst>
              <a:path extrusionOk="0" h="1219663" w="4806554">
                <a:moveTo>
                  <a:pt x="0" y="0"/>
                </a:moveTo>
                <a:lnTo>
                  <a:pt x="4806554" y="0"/>
                </a:lnTo>
                <a:lnTo>
                  <a:pt x="4806554" y="1219664"/>
                </a:lnTo>
                <a:lnTo>
                  <a:pt x="0" y="121966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86" name="Google Shape;86;p1"/>
          <p:cNvSpPr/>
          <p:nvPr/>
        </p:nvSpPr>
        <p:spPr>
          <a:xfrm>
            <a:off x="25659832" y="40013768"/>
            <a:ext cx="2331941" cy="2210428"/>
          </a:xfrm>
          <a:custGeom>
            <a:rect b="b" l="l" r="r" t="t"/>
            <a:pathLst>
              <a:path extrusionOk="0" h="2210428" w="2331941">
                <a:moveTo>
                  <a:pt x="0" y="0"/>
                </a:moveTo>
                <a:lnTo>
                  <a:pt x="2331941" y="0"/>
                </a:lnTo>
                <a:lnTo>
                  <a:pt x="2331941" y="2210428"/>
                </a:lnTo>
                <a:lnTo>
                  <a:pt x="0" y="221042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-33317" r="-54141" t="0"/>
            </a:stretch>
          </a:blipFill>
          <a:ln>
            <a:noFill/>
          </a:ln>
        </p:spPr>
      </p:sp>
      <p:sp>
        <p:nvSpPr>
          <p:cNvPr id="87" name="Google Shape;87;p1"/>
          <p:cNvSpPr/>
          <p:nvPr/>
        </p:nvSpPr>
        <p:spPr>
          <a:xfrm>
            <a:off x="5521550" y="1517443"/>
            <a:ext cx="8035511" cy="2234772"/>
          </a:xfrm>
          <a:custGeom>
            <a:rect b="b" l="l" r="r" t="t"/>
            <a:pathLst>
              <a:path extrusionOk="0" h="2234772" w="8035511">
                <a:moveTo>
                  <a:pt x="0" y="0"/>
                </a:moveTo>
                <a:lnTo>
                  <a:pt x="8035511" y="0"/>
                </a:lnTo>
                <a:lnTo>
                  <a:pt x="8035511" y="2234773"/>
                </a:lnTo>
                <a:lnTo>
                  <a:pt x="0" y="223477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 b="-20267" l="0" r="0" t="-834"/>
            </a:stretch>
          </a:blipFill>
          <a:ln>
            <a:noFill/>
          </a:ln>
        </p:spPr>
      </p:sp>
      <p:sp>
        <p:nvSpPr>
          <p:cNvPr id="88" name="Google Shape;88;p1"/>
          <p:cNvSpPr/>
          <p:nvPr/>
        </p:nvSpPr>
        <p:spPr>
          <a:xfrm rot="-1047993">
            <a:off x="1891354" y="1260574"/>
            <a:ext cx="910048" cy="4294742"/>
          </a:xfrm>
          <a:custGeom>
            <a:rect b="b" l="l" r="r" t="t"/>
            <a:pathLst>
              <a:path extrusionOk="0" h="4294742" w="910048">
                <a:moveTo>
                  <a:pt x="0" y="0"/>
                </a:moveTo>
                <a:lnTo>
                  <a:pt x="910048" y="0"/>
                </a:lnTo>
                <a:lnTo>
                  <a:pt x="910048" y="4294743"/>
                </a:lnTo>
                <a:lnTo>
                  <a:pt x="0" y="429474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 b="-30387" l="-724891" r="-1717696" t="-51180"/>
            </a:stretch>
          </a:blipFill>
          <a:ln>
            <a:noFill/>
          </a:ln>
        </p:spPr>
      </p:sp>
      <p:sp>
        <p:nvSpPr>
          <p:cNvPr id="89" name="Google Shape;89;p1"/>
          <p:cNvSpPr/>
          <p:nvPr/>
        </p:nvSpPr>
        <p:spPr>
          <a:xfrm rot="419970">
            <a:off x="2346378" y="1300020"/>
            <a:ext cx="910048" cy="4294742"/>
          </a:xfrm>
          <a:custGeom>
            <a:rect b="b" l="l" r="r" t="t"/>
            <a:pathLst>
              <a:path extrusionOk="0" h="4294742" w="910048">
                <a:moveTo>
                  <a:pt x="0" y="0"/>
                </a:moveTo>
                <a:lnTo>
                  <a:pt x="910048" y="0"/>
                </a:lnTo>
                <a:lnTo>
                  <a:pt x="910048" y="4294742"/>
                </a:lnTo>
                <a:lnTo>
                  <a:pt x="0" y="429474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 b="-30387" l="-724891" r="-1717696" t="-51180"/>
            </a:stretch>
          </a:blipFill>
          <a:ln>
            <a:noFill/>
          </a:ln>
        </p:spPr>
      </p:sp>
      <p:sp>
        <p:nvSpPr>
          <p:cNvPr id="90" name="Google Shape;90;p1"/>
          <p:cNvSpPr/>
          <p:nvPr/>
        </p:nvSpPr>
        <p:spPr>
          <a:xfrm>
            <a:off x="3514715" y="1339466"/>
            <a:ext cx="910048" cy="4294742"/>
          </a:xfrm>
          <a:custGeom>
            <a:rect b="b" l="l" r="r" t="t"/>
            <a:pathLst>
              <a:path extrusionOk="0" h="4294742" w="910048">
                <a:moveTo>
                  <a:pt x="0" y="0"/>
                </a:moveTo>
                <a:lnTo>
                  <a:pt x="910048" y="0"/>
                </a:lnTo>
                <a:lnTo>
                  <a:pt x="910048" y="4294742"/>
                </a:lnTo>
                <a:lnTo>
                  <a:pt x="0" y="429474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 b="-30387" l="-724891" r="-1717696" t="-51180"/>
            </a:stretch>
          </a:blipFill>
          <a:ln>
            <a:noFill/>
          </a:ln>
        </p:spPr>
      </p:sp>
      <p:sp>
        <p:nvSpPr>
          <p:cNvPr id="91" name="Google Shape;91;p1"/>
          <p:cNvSpPr/>
          <p:nvPr/>
        </p:nvSpPr>
        <p:spPr>
          <a:xfrm>
            <a:off x="4518133" y="1300020"/>
            <a:ext cx="910048" cy="4294742"/>
          </a:xfrm>
          <a:custGeom>
            <a:rect b="b" l="l" r="r" t="t"/>
            <a:pathLst>
              <a:path extrusionOk="0" h="4294742" w="910048">
                <a:moveTo>
                  <a:pt x="0" y="0"/>
                </a:moveTo>
                <a:lnTo>
                  <a:pt x="910047" y="0"/>
                </a:lnTo>
                <a:lnTo>
                  <a:pt x="910047" y="4294742"/>
                </a:lnTo>
                <a:lnTo>
                  <a:pt x="0" y="429474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 b="-30387" l="-724891" r="-1717696" t="-51180"/>
            </a:stretch>
          </a:blipFill>
          <a:ln>
            <a:noFill/>
          </a:ln>
        </p:spPr>
      </p:sp>
      <p:sp>
        <p:nvSpPr>
          <p:cNvPr id="92" name="Google Shape;92;p1"/>
          <p:cNvSpPr txBox="1"/>
          <p:nvPr/>
        </p:nvSpPr>
        <p:spPr>
          <a:xfrm>
            <a:off x="4773325" y="3324912"/>
            <a:ext cx="8246400" cy="310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416"/>
              <a:buFont typeface="Arial"/>
              <a:buNone/>
            </a:pPr>
            <a:r>
              <a:rPr b="0" i="0" lang="en-US" sz="8416" u="none" cap="none" strike="noStrike">
                <a:solidFill>
                  <a:srgbClr val="6DB3CF"/>
                </a:solidFill>
                <a:latin typeface="Arial"/>
                <a:ea typeface="Arial"/>
                <a:cs typeface="Arial"/>
                <a:sym typeface="Arial"/>
              </a:rPr>
              <a:t>ESTÁCIO</a:t>
            </a:r>
            <a:endParaRPr b="0" i="0" sz="8416" u="none" cap="none" strike="noStrike">
              <a:solidFill>
                <a:srgbClr val="6DB3C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4000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416"/>
              <a:buFont typeface="Arial"/>
              <a:buNone/>
            </a:pPr>
            <a:r>
              <a:rPr b="0" i="0" lang="en-US" sz="8416" u="none" cap="none" strike="noStrike">
                <a:solidFill>
                  <a:srgbClr val="6DB3CF"/>
                </a:solidFill>
                <a:latin typeface="Arial"/>
                <a:ea typeface="Arial"/>
                <a:cs typeface="Arial"/>
                <a:sym typeface="Arial"/>
              </a:rPr>
              <a:t>RECIFE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Google Shape;93;p1"/>
          <p:cNvSpPr txBox="1"/>
          <p:nvPr/>
        </p:nvSpPr>
        <p:spPr>
          <a:xfrm>
            <a:off x="5794836" y="7476685"/>
            <a:ext cx="16941600" cy="36956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18"/>
              <a:buFont typeface="Arial"/>
              <a:buNone/>
            </a:pPr>
            <a:r>
              <a:rPr b="1" i="0" lang="en-US" sz="5718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PROFESSORA: </a:t>
            </a:r>
            <a:r>
              <a:rPr b="0" i="0" lang="en-US" sz="5718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MARIA RENAY BARBOSA DA SILVA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18"/>
              <a:buFont typeface="Arial"/>
              <a:buNone/>
            </a:pPr>
            <a:r>
              <a:rPr b="1" i="0" lang="en-US" sz="5718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DISCIPLINA :</a:t>
            </a:r>
            <a:r>
              <a:rPr b="0" i="0" lang="en-US" sz="5718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TÓPICOS DE BIG DATA EM PYTHON</a:t>
            </a:r>
            <a:endParaRPr b="0" i="0" sz="5718" u="none" cap="none" strike="noStrike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ctr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18"/>
              <a:buFont typeface="Arial"/>
              <a:buNone/>
            </a:pPr>
            <a:r>
              <a:rPr b="1" i="0" lang="en-US" sz="5718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TEMA:</a:t>
            </a:r>
            <a:r>
              <a:rPr b="0" i="0" lang="en-US" sz="5718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VENDAS DE JOGOS</a:t>
            </a:r>
            <a:endParaRPr b="0" i="0" sz="5718" u="none" cap="none" strike="noStrike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94" name="Google Shape;94;p1"/>
          <p:cNvSpPr txBox="1"/>
          <p:nvPr/>
        </p:nvSpPr>
        <p:spPr>
          <a:xfrm>
            <a:off x="2346364" y="13858139"/>
            <a:ext cx="7201200" cy="1064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918"/>
              <a:buFont typeface="Arial"/>
              <a:buNone/>
            </a:pPr>
            <a:r>
              <a:rPr b="1" i="0" lang="en-US" sz="6918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INTRODUÇÃO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Google Shape;95;p1"/>
          <p:cNvSpPr txBox="1"/>
          <p:nvPr/>
        </p:nvSpPr>
        <p:spPr>
          <a:xfrm>
            <a:off x="2346478" y="20760785"/>
            <a:ext cx="7201200" cy="1064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918"/>
              <a:buFont typeface="Arial"/>
              <a:buNone/>
            </a:pPr>
            <a:r>
              <a:rPr b="1" i="0" lang="en-US" sz="6918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OBJETIVO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1"/>
          <p:cNvSpPr txBox="1"/>
          <p:nvPr/>
        </p:nvSpPr>
        <p:spPr>
          <a:xfrm>
            <a:off x="2956200" y="28743894"/>
            <a:ext cx="7201200" cy="1064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918"/>
              <a:buFont typeface="Arial"/>
              <a:buNone/>
            </a:pPr>
            <a:r>
              <a:rPr b="1" i="0" lang="en-US" sz="6918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RESULTADO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"/>
          <p:cNvSpPr txBox="1"/>
          <p:nvPr/>
        </p:nvSpPr>
        <p:spPr>
          <a:xfrm>
            <a:off x="14265682" y="13811658"/>
            <a:ext cx="7201200" cy="255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918"/>
              <a:buFont typeface="Arial"/>
              <a:buNone/>
            </a:pPr>
            <a:r>
              <a:rPr b="1" i="0" lang="en-US" sz="6918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EXTENSÃO REALIZADA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1"/>
          <p:cNvSpPr txBox="1"/>
          <p:nvPr/>
        </p:nvSpPr>
        <p:spPr>
          <a:xfrm>
            <a:off x="14978549" y="23308499"/>
            <a:ext cx="7201200" cy="1064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918"/>
              <a:buFont typeface="Arial"/>
              <a:buNone/>
            </a:pPr>
            <a:r>
              <a:rPr b="1" i="0" lang="en-US" sz="6918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METODOLOGIA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1"/>
          <p:cNvSpPr/>
          <p:nvPr/>
        </p:nvSpPr>
        <p:spPr>
          <a:xfrm>
            <a:off x="17872962" y="-10390392"/>
            <a:ext cx="27058190" cy="27016626"/>
          </a:xfrm>
          <a:custGeom>
            <a:rect b="b" l="l" r="r" t="t"/>
            <a:pathLst>
              <a:path extrusionOk="0" h="27016626" w="27058190">
                <a:moveTo>
                  <a:pt x="0" y="0"/>
                </a:moveTo>
                <a:lnTo>
                  <a:pt x="27058191" y="0"/>
                </a:lnTo>
                <a:lnTo>
                  <a:pt x="27058191" y="27016626"/>
                </a:lnTo>
                <a:lnTo>
                  <a:pt x="0" y="2701662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7">
              <a:alphaModFix amt="16000"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00" name="Google Shape;100;p1"/>
          <p:cNvSpPr txBox="1"/>
          <p:nvPr/>
        </p:nvSpPr>
        <p:spPr>
          <a:xfrm>
            <a:off x="1322717" y="15574308"/>
            <a:ext cx="9248700" cy="3786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0" lang="en-US" sz="4100" u="none" cap="none" strike="noStrike">
                <a:solidFill>
                  <a:schemeClr val="dk1"/>
                </a:solidFill>
              </a:rPr>
              <a:t>Realizamos um projeto de pesquisa e análise de um banco de dados </a:t>
            </a:r>
            <a:r>
              <a:rPr lang="en-US" sz="4100">
                <a:solidFill>
                  <a:schemeClr val="dk1"/>
                </a:solidFill>
              </a:rPr>
              <a:t>para explorar um conjunto de dados públicos sobre vendas de jogos eletrônicos em diferentes regiões do mundo utilizando Python.</a:t>
            </a:r>
            <a:endParaRPr i="0" sz="4100" u="none" cap="none" strike="noStrike">
              <a:solidFill>
                <a:schemeClr val="dk1"/>
              </a:solidFill>
            </a:endParaRPr>
          </a:p>
        </p:txBody>
      </p:sp>
      <p:sp>
        <p:nvSpPr>
          <p:cNvPr id="101" name="Google Shape;101;p1"/>
          <p:cNvSpPr txBox="1"/>
          <p:nvPr/>
        </p:nvSpPr>
        <p:spPr>
          <a:xfrm>
            <a:off x="1267803" y="22346884"/>
            <a:ext cx="11644800" cy="44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4100">
                <a:solidFill>
                  <a:schemeClr val="dk1"/>
                </a:solidFill>
              </a:rPr>
              <a:t>O principal objetivo é identificar padrões e insights relevantes nas vendas globais de jogos, respondendo perguntas como: quais gêneros vendem mais em cada região, quais gêneros foram mais lucrativos, quais empresas dominam o mercado e quais as maiores vendas globais.</a:t>
            </a:r>
            <a:endParaRPr i="0" sz="3999" u="none" cap="none" strike="noStrike">
              <a:solidFill>
                <a:srgbClr val="000000"/>
              </a:solidFill>
            </a:endParaRPr>
          </a:p>
          <a:p>
            <a:pPr indent="0" lvl="0" marL="0" marR="0" rtl="0" algn="l">
              <a:lnSpc>
                <a:spcPct val="14001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999"/>
              <a:buFont typeface="Arial"/>
              <a:buNone/>
            </a:pPr>
            <a:r>
              <a:t/>
            </a:r>
            <a:endParaRPr b="0" i="0" sz="3999" u="none" cap="none" strike="noStrike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2" name="Google Shape;102;p1"/>
          <p:cNvSpPr txBox="1"/>
          <p:nvPr/>
        </p:nvSpPr>
        <p:spPr>
          <a:xfrm>
            <a:off x="1004702" y="30121113"/>
            <a:ext cx="13433400" cy="3786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100"/>
              <a:buFont typeface="Arial"/>
              <a:buNone/>
            </a:pPr>
            <a:r>
              <a:rPr lang="en-US" sz="4100">
                <a:solidFill>
                  <a:schemeClr val="dk1"/>
                </a:solidFill>
              </a:rPr>
              <a:t>Os resultados mostraram padrões interessantes, como a predominância de determinados gêneros em regiões específicas — por exemplo, RPGs no Japão e jogos de ação na América do Norte. O dashboard final oferece uma visão ampla e acessível do comportamento do mercado global de games.</a:t>
            </a:r>
            <a:endParaRPr i="0" sz="4000" u="none" cap="none" strike="noStrike">
              <a:solidFill>
                <a:srgbClr val="000000"/>
              </a:solidFill>
            </a:endParaRPr>
          </a:p>
        </p:txBody>
      </p:sp>
      <p:sp>
        <p:nvSpPr>
          <p:cNvPr id="103" name="Google Shape;103;p1"/>
          <p:cNvSpPr txBox="1"/>
          <p:nvPr/>
        </p:nvSpPr>
        <p:spPr>
          <a:xfrm>
            <a:off x="13356875" y="16886950"/>
            <a:ext cx="11782800" cy="442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129"/>
              <a:buFont typeface="Arial"/>
              <a:buNone/>
            </a:pPr>
            <a:r>
              <a:rPr lang="en-US" sz="4100">
                <a:solidFill>
                  <a:schemeClr val="dk1"/>
                </a:solidFill>
              </a:rPr>
              <a:t>A extensão envolveu a coleta, limpeza e análise dos dados, seguida pela criação de um dashboard interativo em Python. Esse painel permite que o usuário explore de forma dinâmica as informações e visualize as principais métricas de vendas, filtradas por gênero, região e ano..</a:t>
            </a:r>
            <a:endParaRPr b="0" i="0" sz="4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3998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129"/>
              <a:buFont typeface="Arial"/>
              <a:buNone/>
            </a:pPr>
            <a:r>
              <a:t/>
            </a:r>
            <a:endParaRPr b="0" i="0" sz="4129" u="none" cap="none" strike="noStrike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4" name="Google Shape;104;p1"/>
          <p:cNvSpPr txBox="1"/>
          <p:nvPr/>
        </p:nvSpPr>
        <p:spPr>
          <a:xfrm>
            <a:off x="13703678" y="24966847"/>
            <a:ext cx="14473200" cy="315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en-US" sz="4100">
                <a:solidFill>
                  <a:schemeClr val="dk1"/>
                </a:solidFill>
              </a:rPr>
              <a:t>Foram utilizadas bibliotecas como Pandas, Matplotlib, e Plotly para o tratamento e visualização dos dados. O processo incluiu etapas de limpeza de dados, análise exploratória e construção do dashboard com o Tkinter, com foco na clareza e na interatividade dos gráficos apresentados.</a:t>
            </a:r>
            <a:endParaRPr i="0" sz="4100" u="none" cap="none" strike="noStrike"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</cp:coreProperties>
</file>